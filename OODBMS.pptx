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EE8"/>
    <a:srgbClr val="625E5E"/>
    <a:srgbClr val="6969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4" d="100"/>
          <a:sy n="74" d="100"/>
        </p:scale>
        <p:origin x="538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309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25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1920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CDBA96C-BBB0-A401-186B-C6E3447599BC}"/>
              </a:ext>
            </a:extLst>
          </p:cNvPr>
          <p:cNvSpPr/>
          <p:nvPr/>
        </p:nvSpPr>
        <p:spPr>
          <a:xfrm>
            <a:off x="-537210" y="1524000"/>
            <a:ext cx="9048750" cy="180022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13460" y="1692592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Bodoni MT Black" panose="02070A03080606020203" pitchFamily="18" charset="0"/>
                <a:ea typeface="Cambria" pitchFamily="34" charset="-122"/>
                <a:cs typeface="Cambria" pitchFamily="34" charset="-120"/>
              </a:rPr>
              <a:t>OBJECT ORIENTED DATABASE</a:t>
            </a:r>
            <a:endParaRPr lang="en-US" sz="4400" dirty="0">
              <a:latin typeface="Bodoni MT Black" panose="02070A03080606020203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8270C94-C31C-DF10-AE7A-B6C6B675AA16}"/>
              </a:ext>
            </a:extLst>
          </p:cNvPr>
          <p:cNvSpPr/>
          <p:nvPr/>
        </p:nvSpPr>
        <p:spPr>
          <a:xfrm>
            <a:off x="699135" y="3551872"/>
            <a:ext cx="12092940" cy="1152525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13459" y="3808094"/>
            <a:ext cx="81400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Calibri" pitchFamily="34" charset="-122"/>
                <a:cs typeface="Calibri" pitchFamily="34" charset="-120"/>
              </a:rPr>
              <a:t>Concepts, motivations, and the shift from Relational to Object-Oriented Database models</a:t>
            </a:r>
            <a:endParaRPr lang="en-US" sz="1600" dirty="0">
              <a:solidFill>
                <a:schemeClr val="accent3">
                  <a:lumMod val="20000"/>
                  <a:lumOff val="80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14265B-0C29-1C0A-9A80-51AF58826F06}"/>
              </a:ext>
            </a:extLst>
          </p:cNvPr>
          <p:cNvSpPr txBox="1"/>
          <p:nvPr/>
        </p:nvSpPr>
        <p:spPr>
          <a:xfrm>
            <a:off x="822960" y="5922817"/>
            <a:ext cx="3054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Edwardian Script ITC" panose="030303020407070D0804" pitchFamily="66" charset="0"/>
              </a:rPr>
              <a:t>Presented by Devika Vijesh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itchFamily="34" charset="0"/>
                <a:ea typeface="Cambria" pitchFamily="34" charset="-122"/>
              </a:rPr>
              <a:t>INTRODUCTION </a:t>
            </a: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40" dirty="0"/>
          </a:p>
        </p:txBody>
      </p:sp>
      <p:sp>
        <p:nvSpPr>
          <p:cNvPr id="5" name="Text 3"/>
          <p:cNvSpPr/>
          <p:nvPr/>
        </p:nvSpPr>
        <p:spPr>
          <a:xfrm>
            <a:off x="1234440" y="1519809"/>
            <a:ext cx="10241280" cy="287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b="1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(OO) software methods have become central to modern application development</a:t>
            </a:r>
            <a:endParaRPr lang="en-US" b="1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395728"/>
            <a:ext cx="365760" cy="36576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1234440" y="2463546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applications are the backbone of most business software</a:t>
            </a:r>
            <a:endParaRPr lang="en-US" b="1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3328416"/>
            <a:ext cx="365760" cy="36576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1234440" y="3373374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Naturally, OO technologies have begun shaping database design as well</a:t>
            </a:r>
            <a:endParaRPr lang="en-US" b="1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4261104"/>
            <a:ext cx="365760" cy="36576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1234440" y="432892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hierarchical data (e.g. generalisation hierarchies) is awkward in relational tables, but natural in OO models</a:t>
            </a:r>
            <a:endParaRPr lang="en-US" b="1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5193792"/>
            <a:ext cx="365760" cy="36576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193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1234440" y="5270754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commercial RDBMS products increasingly support object-oriented features</a:t>
            </a:r>
            <a:endParaRPr lang="en-US" b="1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46304" cy="5486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1274445" y="181508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need for object oriented databases</a:t>
            </a:r>
            <a:endParaRPr lang="en-US" sz="2000" b="1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615184"/>
            <a:ext cx="146304" cy="5486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1274445" y="25786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concept of complex data types</a:t>
            </a:r>
            <a:endParaRPr lang="en-US" sz="2000" b="1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146304" cy="5486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</p:sp>
      <p:sp>
        <p:nvSpPr>
          <p:cNvPr id="9" name="Text 7"/>
          <p:cNvSpPr/>
          <p:nvPr/>
        </p:nvSpPr>
        <p:spPr>
          <a:xfrm>
            <a:off x="1274445" y="335584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SQL to define object oriented concepts</a:t>
            </a:r>
            <a:endParaRPr lang="en-US" sz="2000" b="1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4187952"/>
            <a:ext cx="146304" cy="5486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</p:sp>
      <p:sp>
        <p:nvSpPr>
          <p:cNvPr id="11" name="Text 9"/>
          <p:cNvSpPr/>
          <p:nvPr/>
        </p:nvSpPr>
        <p:spPr>
          <a:xfrm>
            <a:off x="1274445" y="414223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familiar with object definition &amp; query languages</a:t>
            </a:r>
            <a:endParaRPr lang="en-US" sz="2000" b="1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4974336"/>
            <a:ext cx="146304" cy="5486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</p:sp>
      <p:sp>
        <p:nvSpPr>
          <p:cNvPr id="13" name="Text 11"/>
          <p:cNvSpPr/>
          <p:nvPr/>
        </p:nvSpPr>
        <p:spPr>
          <a:xfrm>
            <a:off x="1274445" y="497433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object-relational and object-oriented databases</a:t>
            </a:r>
            <a:endParaRPr lang="en-US" sz="2000" b="1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4D86CB5-02AB-79B1-32BB-1A5F4A0C754D}"/>
              </a:ext>
            </a:extLst>
          </p:cNvPr>
          <p:cNvSpPr/>
          <p:nvPr/>
        </p:nvSpPr>
        <p:spPr>
          <a:xfrm>
            <a:off x="11149965" y="342900"/>
            <a:ext cx="581787" cy="610362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3D308F3-9D8B-447D-711E-6A0D85F342D4}"/>
              </a:ext>
            </a:extLst>
          </p:cNvPr>
          <p:cNvSpPr/>
          <p:nvPr/>
        </p:nvSpPr>
        <p:spPr>
          <a:xfrm>
            <a:off x="10572750" y="342900"/>
            <a:ext cx="344805" cy="610362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3000" b="1" dirty="0">
                <a:solidFill>
                  <a:schemeClr val="bg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OF  </a:t>
            </a:r>
            <a:r>
              <a:rPr lang="en-IN" sz="3000" b="1" dirty="0">
                <a:solidFill>
                  <a:schemeClr val="bg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DATABASES</a:t>
            </a:r>
            <a:endParaRPr lang="en-US" sz="3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696969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847088"/>
            <a:ext cx="502920" cy="50292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645920" y="1828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applications</a:t>
            </a:r>
            <a:endParaRPr lang="en-US" sz="17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CAD, CAM, CIM, CASE systems don't fit neatly into 2-D tables</a:t>
            </a:r>
            <a:endParaRPr lang="en-US" sz="135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92240" y="15544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696969"/>
          </a:solidFill>
          <a:ln/>
        </p:spPr>
      </p:sp>
      <p:sp>
        <p:nvSpPr>
          <p:cNvPr id="9" name="Shape 7"/>
          <p:cNvSpPr/>
          <p:nvPr/>
        </p:nvSpPr>
        <p:spPr>
          <a:xfrm>
            <a:off x="6812280" y="1847088"/>
            <a:ext cx="502920" cy="50292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7498080" y="1828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data types</a:t>
            </a:r>
            <a:endParaRPr lang="en-US" sz="17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12280" y="2514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SQL's standard types can't be extended; users can't define their own</a:t>
            </a:r>
            <a:endParaRPr lang="en-US" sz="135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6969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4361688"/>
            <a:ext cx="502920" cy="50292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1645920" y="4343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Awkward inheritance</a:t>
            </a:r>
            <a:endParaRPr lang="en-US" sz="17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0120" y="5029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Hierarchies need many linked tables with referential constraints</a:t>
            </a:r>
            <a:endParaRPr lang="en-US" sz="135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92240" y="40690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696969"/>
          </a:solidFill>
          <a:ln/>
        </p:spPr>
      </p:sp>
      <p:sp>
        <p:nvSpPr>
          <p:cNvPr id="19" name="Shape 17"/>
          <p:cNvSpPr/>
          <p:nvPr/>
        </p:nvSpPr>
        <p:spPr>
          <a:xfrm>
            <a:off x="6812280" y="4361688"/>
            <a:ext cx="502920" cy="50292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7498080" y="4343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explosion</a:t>
            </a:r>
            <a:endParaRPr lang="en-US" sz="17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812280" y="5029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&amp; composite attributes force decomposition into more tables</a:t>
            </a:r>
            <a:endParaRPr lang="en-US" sz="135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Need for OO Databases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27048"/>
            <a:ext cx="109728" cy="1097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45999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objects are made of simpler ones (e.g. a window = menu bar + scroll bar + ...)</a:t>
            </a:r>
            <a:endParaRPr lang="en-US" i="1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9728" cy="1097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3570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 models represent such structures naturally via inheritance hierarchies</a:t>
            </a:r>
            <a:endParaRPr lang="en-US" i="1" dirty="0"/>
          </a:p>
        </p:txBody>
      </p:sp>
      <p:sp>
        <p:nvSpPr>
          <p:cNvPr id="7" name="Shape 5"/>
          <p:cNvSpPr/>
          <p:nvPr/>
        </p:nvSpPr>
        <p:spPr>
          <a:xfrm>
            <a:off x="640080" y="3136392"/>
            <a:ext cx="109728" cy="1097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7238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 databases capture both structure AND operations (e.g. a Date class with a 'difference' operation)</a:t>
            </a:r>
            <a:endParaRPr lang="en-US" i="1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09728" cy="1097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855027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user-defined types, inherited objects, and polymorphism</a:t>
            </a:r>
            <a:endParaRPr lang="en-US" i="1" dirty="0"/>
          </a:p>
        </p:txBody>
      </p:sp>
      <p:sp>
        <p:nvSpPr>
          <p:cNvPr id="11" name="Shape 9"/>
          <p:cNvSpPr/>
          <p:nvPr/>
        </p:nvSpPr>
        <p:spPr>
          <a:xfrm>
            <a:off x="640080" y="4745736"/>
            <a:ext cx="109728" cy="1097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666765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 with OO application software</a:t>
            </a:r>
            <a:endParaRPr lang="en-US" i="1" dirty="0"/>
          </a:p>
        </p:txBody>
      </p:sp>
      <p:sp>
        <p:nvSpPr>
          <p:cNvPr id="13" name="Shape 11"/>
          <p:cNvSpPr/>
          <p:nvPr/>
        </p:nvSpPr>
        <p:spPr>
          <a:xfrm>
            <a:off x="640080" y="5550408"/>
            <a:ext cx="109728" cy="1097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47268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in the late 1970s; significant by the early 1980s; commercial products by the late 1980s</a:t>
            </a:r>
            <a:endParaRPr lang="en-US" i="1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96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&amp; Makeup of OO Databases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Evolution (increasing features, ease of use, speed)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337560" cy="1051560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 languages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persistence</a:t>
            </a:r>
            <a:endParaRPr lang="en-US" sz="1400" b="1" dirty="0"/>
          </a:p>
        </p:txBody>
      </p:sp>
      <p:sp>
        <p:nvSpPr>
          <p:cNvPr id="6" name="Shape 4"/>
          <p:cNvSpPr/>
          <p:nvPr/>
        </p:nvSpPr>
        <p:spPr>
          <a:xfrm>
            <a:off x="4206240" y="1554480"/>
            <a:ext cx="3337560" cy="1051560"/>
          </a:xfrm>
          <a:prstGeom prst="chevron">
            <a:avLst/>
          </a:prstGeom>
          <a:solidFill>
            <a:schemeClr val="bg2">
              <a:lumMod val="25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4343400" y="155448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OO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(data + behaviour)</a:t>
            </a:r>
            <a:endParaRPr lang="en-US" sz="1400" b="1" dirty="0"/>
          </a:p>
        </p:txBody>
      </p:sp>
      <p:sp>
        <p:nvSpPr>
          <p:cNvPr id="8" name="Shape 6"/>
          <p:cNvSpPr/>
          <p:nvPr/>
        </p:nvSpPr>
        <p:spPr>
          <a:xfrm>
            <a:off x="7772400" y="1554480"/>
            <a:ext cx="3337560" cy="1051560"/>
          </a:xfrm>
          <a:prstGeom prst="chevron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155448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 databases with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DML/DDL</a:t>
            </a:r>
            <a:endParaRPr lang="en-US" sz="1400" b="1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— Makeup of an Object Oriented Database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4480560" cy="2651760"/>
          </a:xfrm>
          <a:prstGeom prst="roundRect">
            <a:avLst>
              <a:gd name="adj" fmla="val 2759"/>
            </a:avLst>
          </a:prstGeom>
          <a:solidFill>
            <a:schemeClr val="bg1">
              <a:lumMod val="65000"/>
            </a:schemeClr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822960" y="3474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Oriented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5840" y="4206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Inheritance</a:t>
            </a:r>
            <a:endParaRPr 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05840" y="45902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Encapsulation</a:t>
            </a:r>
            <a:endParaRPr 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05840" y="49743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Object identity</a:t>
            </a:r>
            <a:endParaRPr 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05840" y="53583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66360" y="42519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35040" y="3291840"/>
            <a:ext cx="4480560" cy="2651760"/>
          </a:xfrm>
          <a:prstGeom prst="roundRect">
            <a:avLst>
              <a:gd name="adj" fmla="val 2759"/>
            </a:avLst>
          </a:prstGeom>
          <a:solidFill>
            <a:schemeClr val="bg1">
              <a:lumMod val="65000"/>
            </a:schemeClr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6217920" y="3474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0392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Integrity</a:t>
            </a:r>
            <a:endParaRPr 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4590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8503920" y="4590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0" y="49743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503920" y="49743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Relational Database Systems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systems enhanced with object-oriented paradigm features, implemented via SQL extensions.</a:t>
            </a:r>
            <a:endParaRPr lang="en-US" sz="15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OO concepts added to SQL standards: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914400" y="25786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types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931920" y="257860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structured attribute types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844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931920" y="358444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hierarchies mirroring OO class design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5902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identity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931920" y="459028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identity independent of attribute values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548640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5961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types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31920" y="559612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that point to / reference other objects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Data Types — Example</a:t>
            </a:r>
            <a:endParaRPr 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attribute like Address is hard to model cleanly in plain RDBMS:</a:t>
            </a:r>
            <a:endParaRPr lang="en-US" sz="15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931920"/>
          </a:xfrm>
          <a:prstGeom prst="roundRect">
            <a:avLst>
              <a:gd name="adj" fmla="val 1860"/>
            </a:avLst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flawed RDBMS approaches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comma-separated string  :  inflexible, needs complex string parsing, hides structure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40690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attributes for each part  :  every query must repeat all address fields (House, Locality, City, State, Pincode)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989320" y="1828800"/>
            <a:ext cx="5577840" cy="3931920"/>
          </a:xfrm>
          <a:prstGeom prst="roundRect">
            <a:avLst>
              <a:gd name="adj" fmla="val 1860"/>
            </a:avLst>
          </a:prstGeom>
          <a:solidFill>
            <a:schemeClr val="bg2">
              <a:lumMod val="25000"/>
            </a:schemeClr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define a new type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217920" y="24688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24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TYPE Address AS (</a:t>
            </a:r>
            <a:endParaRPr lang="en-US" sz="1250" dirty="0">
              <a:solidFill>
                <a:srgbClr val="D24EE8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24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House     Char(20)</a:t>
            </a:r>
            <a:endParaRPr lang="en-US" sz="1250" dirty="0">
              <a:solidFill>
                <a:srgbClr val="D24EE8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24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Locality  Char(20)</a:t>
            </a:r>
            <a:endParaRPr lang="en-US" sz="1250" dirty="0">
              <a:solidFill>
                <a:srgbClr val="D24EE8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24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      Char(12)</a:t>
            </a:r>
            <a:endParaRPr lang="en-US" sz="1250" dirty="0">
              <a:solidFill>
                <a:srgbClr val="D24EE8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24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     Char(15)</a:t>
            </a:r>
            <a:endParaRPr lang="en-US" sz="1250" dirty="0">
              <a:solidFill>
                <a:srgbClr val="D24EE8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24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Pincode   Char(6)</a:t>
            </a:r>
            <a:endParaRPr lang="en-US" sz="1250" dirty="0">
              <a:solidFill>
                <a:srgbClr val="D24EE8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24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>
              <a:solidFill>
                <a:srgbClr val="D24EE8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217920" y="4343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directly as a field type in a table:</a:t>
            </a:r>
            <a:endParaRPr lang="en-US" sz="12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0" y="4663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4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   Address</a:t>
            </a:r>
            <a:endParaRPr lang="en-US" sz="1250" dirty="0">
              <a:solidFill>
                <a:srgbClr val="D24EE8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Helps — Query Examples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type can be used whole, or drilled into by component: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706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whole composite attribute: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24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address</a:t>
            </a:r>
            <a:endParaRPr lang="en-US" sz="1350" dirty="0">
              <a:solidFill>
                <a:srgbClr val="D24EE8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24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</a:t>
            </a:r>
            <a:endParaRPr lang="en-US" sz="1350" dirty="0">
              <a:solidFill>
                <a:srgbClr val="D24EE8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24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programme = 'MCA';</a:t>
            </a:r>
            <a:endParaRPr lang="en-US" sz="1350" dirty="0">
              <a:solidFill>
                <a:srgbClr val="D24EE8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0881360" cy="1737360"/>
          </a:xfrm>
          <a:prstGeom prst="roundRect">
            <a:avLst>
              <a:gd name="adj" fmla="val 4211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one component (dot notation):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4114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24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address</a:t>
            </a:r>
            <a:endParaRPr lang="en-US" sz="1350" dirty="0">
              <a:solidFill>
                <a:srgbClr val="D24EE8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24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</a:t>
            </a:r>
            <a:endParaRPr lang="en-US" sz="1350" dirty="0">
              <a:solidFill>
                <a:srgbClr val="D24EE8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24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programme = 'MCA' AND address.city = 'Mumbai';</a:t>
            </a:r>
            <a:endParaRPr lang="en-US" sz="1350" dirty="0">
              <a:solidFill>
                <a:srgbClr val="D24EE8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Component-level detail is preserved -&gt;  nothing is lost by grouping fields into a type.</a:t>
            </a:r>
            <a:endParaRPr lang="en-US" sz="13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Multi-Valued Attributes — Example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 has attributes that can repeat — Authors and Subject areas: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0040" cy="32004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320040" cy="3200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18105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 number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320040" cy="32004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95728"/>
            <a:ext cx="320040" cy="3200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title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962656"/>
            <a:ext cx="320040" cy="32004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62656"/>
            <a:ext cx="320040" cy="3200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29443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(multi-valued)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320040" cy="32004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29584"/>
            <a:ext cx="320040" cy="3200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35112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by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4096512"/>
            <a:ext cx="320040" cy="32004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96512"/>
            <a:ext cx="320040" cy="3200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43000" y="40782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areas (multi-valued)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5303520" cy="292608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fix (needs extra tables):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37960" y="2423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(ISBN number, author)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(ISBN number, subject area)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37960" y="32461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Works, but is a complex design spread across multiple tables — modelled far more naturally as a single object in an OO database.</a:t>
            </a:r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28016" cy="12801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642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struggles with complex, hierarchical, and multi-valued data</a:t>
            </a:r>
            <a:endParaRPr lang="en-US" sz="1600" b="1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578608"/>
            <a:ext cx="128016" cy="12801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14016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 databases add user-defined types, inheritance, and identity to the data model</a:t>
            </a:r>
            <a:endParaRPr lang="en-US" sz="1600" b="1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328416"/>
            <a:ext cx="128016" cy="12801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163824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Object-relational systems extend SQL to bring OO features into relational databases</a:t>
            </a:r>
            <a:endParaRPr lang="en-US" sz="1600" b="1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4078224"/>
            <a:ext cx="128016" cy="12801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1363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types (e.g. Address) simplify both schema design and querying</a:t>
            </a:r>
            <a:endParaRPr lang="en-US" sz="1600" b="1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4828032"/>
            <a:ext cx="128016" cy="12801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6634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bodies: OMG, ODMG, X3H7</a:t>
            </a:r>
            <a:endParaRPr lang="en-US" sz="1600" b="1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46368CC-4062-59C4-171F-01ED85FAC9AA}"/>
              </a:ext>
            </a:extLst>
          </p:cNvPr>
          <p:cNvSpPr/>
          <p:nvPr/>
        </p:nvSpPr>
        <p:spPr>
          <a:xfrm>
            <a:off x="10615768" y="-133835"/>
            <a:ext cx="1115984" cy="607244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733643C-D6AA-D0F6-5DE7-53699DC08B1C}"/>
              </a:ext>
            </a:extLst>
          </p:cNvPr>
          <p:cNvSpPr/>
          <p:nvPr/>
        </p:nvSpPr>
        <p:spPr>
          <a:xfrm>
            <a:off x="9652115" y="-556953"/>
            <a:ext cx="647977" cy="594193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DC56577-A54B-D27C-43DA-7C417BCAFA19}"/>
              </a:ext>
            </a:extLst>
          </p:cNvPr>
          <p:cNvSpPr/>
          <p:nvPr/>
        </p:nvSpPr>
        <p:spPr>
          <a:xfrm rot="16200000">
            <a:off x="2199599" y="-951014"/>
            <a:ext cx="1602904" cy="1196648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819BB3-61B6-CF05-E0C4-6E4C1D787EF8}"/>
              </a:ext>
            </a:extLst>
          </p:cNvPr>
          <p:cNvSpPr/>
          <p:nvPr/>
        </p:nvSpPr>
        <p:spPr>
          <a:xfrm rot="10800000">
            <a:off x="3744513" y="1863002"/>
            <a:ext cx="11259959" cy="200025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5009D8-BE64-9D33-9BC7-74EC809445F9}"/>
              </a:ext>
            </a:extLst>
          </p:cNvPr>
          <p:cNvSpPr txBox="1"/>
          <p:nvPr/>
        </p:nvSpPr>
        <p:spPr>
          <a:xfrm>
            <a:off x="4198685" y="2478406"/>
            <a:ext cx="379462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Georgia" panose="02040502050405020303" pitchFamily="18" charset="0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431863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766</Words>
  <Application>Microsoft Office PowerPoint</Application>
  <PresentationFormat>Widescreen</PresentationFormat>
  <Paragraphs>144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Bodoni MT Black</vt:lpstr>
      <vt:lpstr>Britannic Bold</vt:lpstr>
      <vt:lpstr>Calibri</vt:lpstr>
      <vt:lpstr>Cambria</vt:lpstr>
      <vt:lpstr>Courier New</vt:lpstr>
      <vt:lpstr>Edwardian Script ITC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Devika Vijesh</cp:lastModifiedBy>
  <cp:revision>2</cp:revision>
  <dcterms:created xsi:type="dcterms:W3CDTF">2026-09-25T06:10:04Z</dcterms:created>
  <dcterms:modified xsi:type="dcterms:W3CDTF">2026-10-15T20:30:50Z</dcterms:modified>
</cp:coreProperties>
</file>