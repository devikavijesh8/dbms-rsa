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273572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297680"/>
            <a:ext cx="2926080" cy="2926080"/>
          </a:xfrm>
          <a:prstGeom prst="ellipse">
            <a:avLst/>
          </a:prstGeom>
          <a:solidFill>
            <a:srgbClr val="27357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 Oriented Database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9319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Concepts, motivations, and the shift from relational to object-oriented data models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40" dirty="0"/>
          </a:p>
        </p:txBody>
      </p:sp>
      <p:sp>
        <p:nvSpPr>
          <p:cNvPr id="5" name="Text 3"/>
          <p:cNvSpPr/>
          <p:nvPr/>
        </p:nvSpPr>
        <p:spPr>
          <a:xfrm>
            <a:off x="1234440" y="14173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(OO) software methods have become central to modern application development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239572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40" dirty="0"/>
          </a:p>
        </p:txBody>
      </p:sp>
      <p:sp>
        <p:nvSpPr>
          <p:cNvPr id="8" name="Text 6"/>
          <p:cNvSpPr/>
          <p:nvPr/>
        </p:nvSpPr>
        <p:spPr>
          <a:xfrm>
            <a:off x="1234440" y="235000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applications are the backbone of most business software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332841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328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40" dirty="0"/>
          </a:p>
        </p:txBody>
      </p:sp>
      <p:sp>
        <p:nvSpPr>
          <p:cNvPr id="11" name="Text 9"/>
          <p:cNvSpPr/>
          <p:nvPr/>
        </p:nvSpPr>
        <p:spPr>
          <a:xfrm>
            <a:off x="1234440" y="3282696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Naturally, OO technologies have begun shaping database design as well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40080" y="426110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40" dirty="0"/>
          </a:p>
        </p:txBody>
      </p:sp>
      <p:sp>
        <p:nvSpPr>
          <p:cNvPr id="14" name="Text 12"/>
          <p:cNvSpPr/>
          <p:nvPr/>
        </p:nvSpPr>
        <p:spPr>
          <a:xfrm>
            <a:off x="1234440" y="4215384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Complex, hierarchical data (e.g. generalisation hierarchies) is awkward in relational tables, but natural in OO models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40080" y="519379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193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40" dirty="0"/>
          </a:p>
        </p:txBody>
      </p:sp>
      <p:sp>
        <p:nvSpPr>
          <p:cNvPr id="17" name="Text 15"/>
          <p:cNvSpPr/>
          <p:nvPr/>
        </p:nvSpPr>
        <p:spPr>
          <a:xfrm>
            <a:off x="1234440" y="514807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commercial RDBMS products increasingly support object-oriented features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Object Oriented Database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this unit, you should be able to: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46304" cy="5486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830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need for object oriented databases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40080" y="2615184"/>
            <a:ext cx="146304" cy="5486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569464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concept of complex data types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40080" y="3401568"/>
            <a:ext cx="146304" cy="5486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35584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SQL to define object oriented concepts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640080" y="4187952"/>
            <a:ext cx="146304" cy="5486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14223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familiar with object definition &amp; query languages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40080" y="4974336"/>
            <a:ext cx="146304" cy="5486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928616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object-relational and object-oriented databases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Object Oriented Database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of Relational Databases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4F6FC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84708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847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30" dirty="0"/>
          </a:p>
        </p:txBody>
      </p:sp>
      <p:sp>
        <p:nvSpPr>
          <p:cNvPr id="6" name="Text 4"/>
          <p:cNvSpPr/>
          <p:nvPr/>
        </p:nvSpPr>
        <p:spPr>
          <a:xfrm>
            <a:off x="1645920" y="18288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applications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25146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CAD, CAM, CIM, CASE systems don't fit neatly into 2-D tables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92240" y="155448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4F6FC"/>
          </a:solidFill>
          <a:ln/>
        </p:spPr>
      </p:sp>
      <p:sp>
        <p:nvSpPr>
          <p:cNvPr id="9" name="Shape 7"/>
          <p:cNvSpPr/>
          <p:nvPr/>
        </p:nvSpPr>
        <p:spPr>
          <a:xfrm>
            <a:off x="6812280" y="184708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812280" y="1847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30" dirty="0"/>
          </a:p>
        </p:txBody>
      </p:sp>
      <p:sp>
        <p:nvSpPr>
          <p:cNvPr id="11" name="Text 9"/>
          <p:cNvSpPr/>
          <p:nvPr/>
        </p:nvSpPr>
        <p:spPr>
          <a:xfrm>
            <a:off x="7498080" y="18288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data types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812280" y="25146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SQL's standard types can't be extended; users can't define their own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4F6FC"/>
          </a:solidFill>
          <a:ln/>
        </p:spPr>
      </p:sp>
      <p:sp>
        <p:nvSpPr>
          <p:cNvPr id="14" name="Shape 12"/>
          <p:cNvSpPr/>
          <p:nvPr/>
        </p:nvSpPr>
        <p:spPr>
          <a:xfrm>
            <a:off x="960120" y="436168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361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30" dirty="0"/>
          </a:p>
        </p:txBody>
      </p:sp>
      <p:sp>
        <p:nvSpPr>
          <p:cNvPr id="16" name="Text 14"/>
          <p:cNvSpPr/>
          <p:nvPr/>
        </p:nvSpPr>
        <p:spPr>
          <a:xfrm>
            <a:off x="1645920" y="43434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Awkward inheritance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60120" y="50292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Hierarchies need many linked tables with referential constraints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92240" y="406908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4F6FC"/>
          </a:solidFill>
          <a:ln/>
        </p:spPr>
      </p:sp>
      <p:sp>
        <p:nvSpPr>
          <p:cNvPr id="19" name="Shape 17"/>
          <p:cNvSpPr/>
          <p:nvPr/>
        </p:nvSpPr>
        <p:spPr>
          <a:xfrm>
            <a:off x="6812280" y="436168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812280" y="4361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30" dirty="0"/>
          </a:p>
        </p:txBody>
      </p:sp>
      <p:sp>
        <p:nvSpPr>
          <p:cNvPr id="21" name="Text 19"/>
          <p:cNvSpPr/>
          <p:nvPr/>
        </p:nvSpPr>
        <p:spPr>
          <a:xfrm>
            <a:off x="7498080" y="43434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explosion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812280" y="50292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Multi-valued &amp; composite attributes force decomposition into more tables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Object Oriented Database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Need for OO Databases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27048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44168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objects are made of simpler ones (e.g. a window = menu bar + scroll bar + ...)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488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 models represent such structures naturally via inheritance hierarchies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36392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95351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 databases capture both structure AND operations (e.g. a Date class with a 'difference' operation)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758184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user-defined types, inherited objects, and polymorphism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745736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562856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integration with OO application software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5550408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367528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in the late 1970s; significant by the early 1980s; commercial products by the late 1980s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Object Oriented Database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Evolution &amp; Makeup of OO Databases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 — Evolution (increasing features, ease of use, speed)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337560" cy="1051560"/>
          </a:xfrm>
          <a:prstGeom prst="chevron">
            <a:avLst/>
          </a:prstGeom>
          <a:solidFill>
            <a:srgbClr val="5B6B9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5448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 languages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persistence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206240" y="1554480"/>
            <a:ext cx="3337560" cy="1051560"/>
          </a:xfrm>
          <a:prstGeom prst="chevron">
            <a:avLst/>
          </a:prstGeom>
          <a:solidFill>
            <a:srgbClr val="3B4A9E"/>
          </a:solidFill>
          <a:ln/>
        </p:spPr>
      </p:sp>
      <p:sp>
        <p:nvSpPr>
          <p:cNvPr id="7" name="Text 5"/>
          <p:cNvSpPr/>
          <p:nvPr/>
        </p:nvSpPr>
        <p:spPr>
          <a:xfrm>
            <a:off x="4343400" y="155448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 databases with OO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(data + behaviour)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0" y="1554480"/>
            <a:ext cx="3337560" cy="1051560"/>
          </a:xfrm>
          <a:prstGeom prst="chevron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909560" y="155448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 databases with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DML/DDL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 — Makeup of an Object Oriented Database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4480560" cy="2651760"/>
          </a:xfrm>
          <a:prstGeom prst="roundRect">
            <a:avLst>
              <a:gd name="adj" fmla="val 2759"/>
            </a:avLst>
          </a:prstGeom>
          <a:solidFill>
            <a:srgbClr val="F4F6FC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4747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Oriented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4206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Inheritance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05840" y="45902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Encapsulation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05840" y="497433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Object identity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05840" y="535838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Polymorphism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166360" y="425196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600" dirty="0"/>
          </a:p>
        </p:txBody>
      </p:sp>
      <p:sp>
        <p:nvSpPr>
          <p:cNvPr id="18" name="Shape 16"/>
          <p:cNvSpPr/>
          <p:nvPr/>
        </p:nvSpPr>
        <p:spPr>
          <a:xfrm>
            <a:off x="6035040" y="3291840"/>
            <a:ext cx="4480560" cy="2651760"/>
          </a:xfrm>
          <a:prstGeom prst="roundRect">
            <a:avLst>
              <a:gd name="adj" fmla="val 2759"/>
            </a:avLst>
          </a:prstGeom>
          <a:solidFill>
            <a:srgbClr val="F4F6FC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34747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0" y="4206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Security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503920" y="4206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Integrity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00800" y="45902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Transactions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503920" y="45902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Concurrency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00800" y="497433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Recovery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503920" y="497433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Persistence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Object Oriented Database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 Relational Database Systems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systems enhanced with object-oriented paradigm features, implemented via SQL extensions.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OO concepts added to SQL standards: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0515600" cy="868680"/>
          </a:xfrm>
          <a:prstGeom prst="roundRect">
            <a:avLst>
              <a:gd name="adj" fmla="val 8421"/>
            </a:avLst>
          </a:prstGeom>
          <a:solidFill>
            <a:srgbClr val="F4F6F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57860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types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931920" y="2578608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User-defined structured attribute types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474720"/>
            <a:ext cx="10515600" cy="868680"/>
          </a:xfrm>
          <a:prstGeom prst="roundRect">
            <a:avLst>
              <a:gd name="adj" fmla="val 8421"/>
            </a:avLst>
          </a:prstGeom>
          <a:solidFill>
            <a:srgbClr val="F4F6F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58444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931920" y="3584448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hierarchies mirroring OO class design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480560"/>
            <a:ext cx="10515600" cy="868680"/>
          </a:xfrm>
          <a:prstGeom prst="roundRect">
            <a:avLst>
              <a:gd name="adj" fmla="val 8421"/>
            </a:avLst>
          </a:prstGeom>
          <a:solidFill>
            <a:srgbClr val="F4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59028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identity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931920" y="4590288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identity independent of attribute values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5486400"/>
            <a:ext cx="10515600" cy="868680"/>
          </a:xfrm>
          <a:prstGeom prst="roundRect">
            <a:avLst>
              <a:gd name="adj" fmla="val 8421"/>
            </a:avLst>
          </a:prstGeom>
          <a:solidFill>
            <a:srgbClr val="F4F6FC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59612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types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931920" y="5596128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that point to / reference other objects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Object Oriented Database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 Data Types — Example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composite attribute like Address is hard to model cleanly in plain RDBMS: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0" cy="3931920"/>
          </a:xfrm>
          <a:prstGeom prst="roundRect">
            <a:avLst>
              <a:gd name="adj" fmla="val 1860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116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flawed RDBMS approaches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comma-separated string — inflexible, needs complex string parsing, hides structure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406908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attributes for each part — every query must repeat all address fields (House, Locality, City, State, Pincode)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89320" y="1828800"/>
            <a:ext cx="5577840" cy="3931920"/>
          </a:xfrm>
          <a:prstGeom prst="roundRect">
            <a:avLst>
              <a:gd name="adj" fmla="val 1860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2011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define a new type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0" y="246888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TYPE Address AS (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House     Char(20)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Locality  Char(20)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City      Char(12)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State     Char(15)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Pincode   Char(6)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217920" y="43434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directly as a field type in a table: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217920" y="4663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   Address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Object Oriented Database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Helps — Query Examples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Address type can be used whole, or drilled into by component: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27357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whole composite attribute: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name, address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student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programme = 'MCA';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657600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27357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794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into one component (dot notation):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41148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name, address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student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programme = 'MCA' AND address.city = 'Mumbai';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5623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Component-level detail is preserved — nothing is lost by grouping fields into a type.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Object Oriented Database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Multi-Valued Attributes — Example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Book has attributes that can repeat — Authors and Subject areas: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910" dirty="0"/>
          </a:p>
        </p:txBody>
      </p:sp>
      <p:sp>
        <p:nvSpPr>
          <p:cNvPr id="6" name="Text 4"/>
          <p:cNvSpPr/>
          <p:nvPr/>
        </p:nvSpPr>
        <p:spPr>
          <a:xfrm>
            <a:off x="1143000" y="181051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ISBN number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395728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95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910" dirty="0"/>
          </a:p>
        </p:txBody>
      </p:sp>
      <p:sp>
        <p:nvSpPr>
          <p:cNvPr id="9" name="Text 7"/>
          <p:cNvSpPr/>
          <p:nvPr/>
        </p:nvSpPr>
        <p:spPr>
          <a:xfrm>
            <a:off x="1143000" y="2377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title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2962656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9626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910" dirty="0"/>
          </a:p>
        </p:txBody>
      </p:sp>
      <p:sp>
        <p:nvSpPr>
          <p:cNvPr id="12" name="Text 10"/>
          <p:cNvSpPr/>
          <p:nvPr/>
        </p:nvSpPr>
        <p:spPr>
          <a:xfrm>
            <a:off x="1143000" y="29443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 (multi-valued)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352958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5295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910" dirty="0"/>
          </a:p>
        </p:txBody>
      </p:sp>
      <p:sp>
        <p:nvSpPr>
          <p:cNvPr id="15" name="Text 13"/>
          <p:cNvSpPr/>
          <p:nvPr/>
        </p:nvSpPr>
        <p:spPr>
          <a:xfrm>
            <a:off x="1143000" y="351129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by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4096512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0965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910" dirty="0"/>
          </a:p>
        </p:txBody>
      </p:sp>
      <p:sp>
        <p:nvSpPr>
          <p:cNvPr id="18" name="Text 16"/>
          <p:cNvSpPr/>
          <p:nvPr/>
        </p:nvSpPr>
        <p:spPr>
          <a:xfrm>
            <a:off x="1143000" y="407822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areas (multi-valued)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309360" y="1828800"/>
            <a:ext cx="5303520" cy="2926080"/>
          </a:xfrm>
          <a:prstGeom prst="roundRect">
            <a:avLst>
              <a:gd name="adj" fmla="val 2500"/>
            </a:avLst>
          </a:prstGeom>
          <a:solidFill>
            <a:srgbClr val="F4F6FC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fix (needs extra tables):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37960" y="24231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(ISBN number, author)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(ISBN number, subject area)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37960" y="324612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Works, but is a complex design spread across multiple tables — modelled far more naturally as a single object in an OO database.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Object Oriented Database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27357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66420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RDBMS struggles with complex, hierarchical, and multi-valued data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78608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414016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 databases add user-defined types, inheritance, and identity to the data model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328416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163824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Object-relational systems extend SQL to bring OO features into relational databases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4078224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913632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types (e.g. Address) simplify both schema design and querying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828032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6634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bodies: OMG, ODMG, X3H7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Object Oriented Database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2026-09-25T06:10:04Z</dcterms:created>
  <dcterms:modified xsi:type="dcterms:W3CDTF">2026-09-25T06:10:04Z</dcterms:modified>
</cp:coreProperties>
</file>